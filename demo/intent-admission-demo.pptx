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6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893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high level story: before an agent request becomes a real action, the executor needs evidence about origin and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gives the attack picture. The core risk is spoofed origin or missing consent on a high-impact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solution: the Admission Point checks origin, policy, consent, and issues a signed assertion. The Execution Endpoint re-verifies it before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page one: show choosing the scenario and the live capture area. Emphasize that origin evidence is captured before the request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page two: point out the policy fetch, verdict, signed pass, replay rejection, and executor enforcement.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Mention that the feedback requested is practical: outcome vocabulary, host signals, and assertion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draft-jiang-oauth-intent-admission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gent-security-labs/oauth-intent-admission-draft/raw/main/demo/intent-admission-demo-linux" TargetMode="External"/><Relationship Id="rId3" Type="http://schemas.openxmlformats.org/officeDocument/2006/relationships/hyperlink" Target="https://datatracker.ietf.org/doc/draft-jiang-oauth-intent-admission/" TargetMode="External"/><Relationship Id="rId7" Type="http://schemas.openxmlformats.org/officeDocument/2006/relationships/hyperlink" Target="https://github.com/agent-security-labs/oauth-intent-admission-draft/raw/main/demo/intent-admission-demo-maco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agent-security-labs/oauth-intent-admission-draft/raw/main/demo/intent-admission-demo-windows.exe" TargetMode="External"/><Relationship Id="rId5" Type="http://schemas.openxmlformats.org/officeDocument/2006/relationships/hyperlink" Target="https://github.com/agent-security-labs/oauth-intent-admission-draft" TargetMode="External"/><Relationship Id="rId4" Type="http://schemas.openxmlformats.org/officeDocument/2006/relationships/hyperlink" Target="https://datatracker.ietf.org/doc/draft-jiang-intent-security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59436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5240">
            <a:solidFill>
              <a:srgbClr val="CFD8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731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3D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92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IETF126 - Hackathon - 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0" y="64922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1C2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Intent Admission: verifying origin and consent before execution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running admission path checks who triggered an intent and whether consent exists, then gives the executor a signed, single-use assertion.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343814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endParaRPr lang="en-US" sz="1600" dirty="0"/>
          </a:p>
        </p:txBody>
      </p:sp>
      <p:sp>
        <p:nvSpPr>
          <p:cNvPr id="10" name="Text 8">
            <a:hlinkClick r:id="rId3"/>
          </p:cNvPr>
          <p:cNvSpPr/>
          <p:nvPr/>
        </p:nvSpPr>
        <p:spPr>
          <a:xfrm>
            <a:off x="1481328" y="343814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u="sng" dirty="0">
                <a:solidFill>
                  <a:srgbClr val="0563C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draft-jiang-oauth-intent-admission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5120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Jiang Yuning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59436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5240">
            <a:solidFill>
              <a:srgbClr val="CFD8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731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3D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92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IETF126 - Hackathon - 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0" y="64922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6419088"/>
            <a:ext cx="11018520" cy="0"/>
          </a:xfrm>
          <a:prstGeom prst="line">
            <a:avLst/>
          </a:prstGeom>
          <a:noFill/>
          <a:ln w="8890">
            <a:solidFill>
              <a:srgbClr val="E0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74980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C2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" y="13533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unsafe intent can look normal if the executor only sees the forwarded request.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31520" y="3552245"/>
            <a:ext cx="3383280" cy="10972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2688" y="3780845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Attack path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41832" y="4100885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6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co-resident app fabricates or triggers an intent that appears to come from the user or a trusted agent.</a:t>
            </a:r>
            <a:endParaRPr lang="en-US" sz="1260" dirty="0"/>
          </a:p>
        </p:txBody>
      </p:sp>
      <p:sp>
        <p:nvSpPr>
          <p:cNvPr id="33" name="Shape 31"/>
          <p:cNvSpPr/>
          <p:nvPr/>
        </p:nvSpPr>
        <p:spPr>
          <a:xfrm>
            <a:off x="4407408" y="3552245"/>
            <a:ext cx="3383280" cy="10972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08576" y="3780845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617720" y="4100885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6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forwarding, the executor cannot reconstruct who really triggered the intent or whether valid consent was present.</a:t>
            </a:r>
            <a:endParaRPr lang="en-US" sz="1260" dirty="0"/>
          </a:p>
        </p:txBody>
      </p:sp>
      <p:sp>
        <p:nvSpPr>
          <p:cNvPr id="36" name="Shape 34"/>
          <p:cNvSpPr/>
          <p:nvPr/>
        </p:nvSpPr>
        <p:spPr>
          <a:xfrm>
            <a:off x="8083296" y="3552245"/>
            <a:ext cx="3383280" cy="10972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84464" y="3780845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293608" y="4100885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6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can be an unauthorized purchase, data disclosure, account change, or other irreversible side effect.</a:t>
            </a:r>
            <a:endParaRPr lang="en-US" sz="1260" dirty="0"/>
          </a:p>
        </p:txBody>
      </p:sp>
      <p:sp>
        <p:nvSpPr>
          <p:cNvPr id="41" name="Shape 8">
            <a:extLst>
              <a:ext uri="{FF2B5EF4-FFF2-40B4-BE49-F238E27FC236}">
                <a16:creationId xmlns:a16="http://schemas.microsoft.com/office/drawing/2014/main" id="{66CE9C8C-E24D-4228-8800-F5B03C2DD107}"/>
              </a:ext>
            </a:extLst>
          </p:cNvPr>
          <p:cNvSpPr/>
          <p:nvPr/>
        </p:nvSpPr>
        <p:spPr>
          <a:xfrm>
            <a:off x="640080" y="1748890"/>
            <a:ext cx="3063240" cy="1670570"/>
          </a:xfrm>
          <a:prstGeom prst="roundRect">
            <a:avLst>
              <a:gd name="adj" fmla="val 847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E1C66239-14A8-414C-933D-59C425BBD1B6}"/>
              </a:ext>
            </a:extLst>
          </p:cNvPr>
          <p:cNvSpPr/>
          <p:nvPr/>
        </p:nvSpPr>
        <p:spPr>
          <a:xfrm>
            <a:off x="896112" y="178944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user-facing device</a:t>
            </a:r>
            <a:endParaRPr lang="en-US" sz="1380" dirty="0"/>
          </a:p>
        </p:txBody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E3491639-C37B-4B7C-91DD-B8E32B8D5132}"/>
              </a:ext>
            </a:extLst>
          </p:cNvPr>
          <p:cNvSpPr/>
          <p:nvPr/>
        </p:nvSpPr>
        <p:spPr>
          <a:xfrm>
            <a:off x="914400" y="2264930"/>
            <a:ext cx="1042416" cy="309303"/>
          </a:xfrm>
          <a:prstGeom prst="roundRect">
            <a:avLst>
              <a:gd name="adj" fmla="val 2941"/>
            </a:avLst>
          </a:prstGeom>
          <a:solidFill>
            <a:srgbClr val="E7F5F2"/>
          </a:solidFill>
          <a:ln w="13970">
            <a:solidFill>
              <a:srgbClr val="A9D9D0"/>
            </a:solidFill>
            <a:prstDash val="solid"/>
          </a:ln>
        </p:spPr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CC15BE09-EBCA-4C31-89F8-126DBA29F137}"/>
              </a:ext>
            </a:extLst>
          </p:cNvPr>
          <p:cNvSpPr/>
          <p:nvPr/>
        </p:nvSpPr>
        <p:spPr>
          <a:xfrm>
            <a:off x="1033272" y="2299119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087A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 app</a:t>
            </a:r>
            <a:endParaRPr lang="en-US" sz="1420" dirty="0"/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D4D6D3DD-34D7-4A42-88C3-0829F88457A5}"/>
              </a:ext>
            </a:extLst>
          </p:cNvPr>
          <p:cNvSpPr/>
          <p:nvPr/>
        </p:nvSpPr>
        <p:spPr>
          <a:xfrm>
            <a:off x="2212848" y="2264930"/>
            <a:ext cx="1225296" cy="361387"/>
          </a:xfrm>
          <a:prstGeom prst="roundRect">
            <a:avLst>
              <a:gd name="adj" fmla="val 2941"/>
            </a:avLst>
          </a:prstGeom>
          <a:solidFill>
            <a:srgbClr val="FDECEC"/>
          </a:solidFill>
          <a:ln w="13970">
            <a:solidFill>
              <a:srgbClr val="F1B8B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24C6BDEC-CC00-4D2D-B7FB-3EF94D53902F}"/>
              </a:ext>
            </a:extLst>
          </p:cNvPr>
          <p:cNvSpPr/>
          <p:nvPr/>
        </p:nvSpPr>
        <p:spPr>
          <a:xfrm>
            <a:off x="2322576" y="23090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malicious app</a:t>
            </a:r>
            <a:endParaRPr lang="en-US" sz="1420" dirty="0"/>
          </a:p>
        </p:txBody>
      </p:sp>
      <p:sp>
        <p:nvSpPr>
          <p:cNvPr id="48" name="Shape 15">
            <a:extLst>
              <a:ext uri="{FF2B5EF4-FFF2-40B4-BE49-F238E27FC236}">
                <a16:creationId xmlns:a16="http://schemas.microsoft.com/office/drawing/2014/main" id="{ED9B1C6B-EF2E-401D-8472-72309E1BEBCA}"/>
              </a:ext>
            </a:extLst>
          </p:cNvPr>
          <p:cNvSpPr/>
          <p:nvPr/>
        </p:nvSpPr>
        <p:spPr>
          <a:xfrm>
            <a:off x="1394062" y="2570260"/>
            <a:ext cx="704088" cy="347472"/>
          </a:xfrm>
          <a:prstGeom prst="line">
            <a:avLst/>
          </a:prstGeom>
          <a:noFill/>
          <a:ln w="17780">
            <a:solidFill>
              <a:srgbClr val="1C2A39"/>
            </a:solidFill>
            <a:prstDash val="solid"/>
            <a:tailEnd type="triangle"/>
          </a:ln>
        </p:spPr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6F660BC7-EFFC-48C5-9A4B-72647A9BA2DC}"/>
              </a:ext>
            </a:extLst>
          </p:cNvPr>
          <p:cNvSpPr/>
          <p:nvPr/>
        </p:nvSpPr>
        <p:spPr>
          <a:xfrm>
            <a:off x="2828279" y="2626317"/>
            <a:ext cx="0" cy="310897"/>
          </a:xfrm>
          <a:prstGeom prst="line">
            <a:avLst/>
          </a:prstGeom>
          <a:noFill/>
          <a:ln w="17780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50" name="Shape 17">
            <a:extLst>
              <a:ext uri="{FF2B5EF4-FFF2-40B4-BE49-F238E27FC236}">
                <a16:creationId xmlns:a16="http://schemas.microsoft.com/office/drawing/2014/main" id="{571201CB-57C2-4122-BADA-9C1024357080}"/>
              </a:ext>
            </a:extLst>
          </p:cNvPr>
          <p:cNvSpPr/>
          <p:nvPr/>
        </p:nvSpPr>
        <p:spPr>
          <a:xfrm>
            <a:off x="1499616" y="2950331"/>
            <a:ext cx="1572768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51" name="Text 18">
            <a:extLst>
              <a:ext uri="{FF2B5EF4-FFF2-40B4-BE49-F238E27FC236}">
                <a16:creationId xmlns:a16="http://schemas.microsoft.com/office/drawing/2014/main" id="{9535D4A6-A90E-4BAE-AF91-6DABE6FAF72C}"/>
              </a:ext>
            </a:extLst>
          </p:cNvPr>
          <p:cNvSpPr/>
          <p:nvPr/>
        </p:nvSpPr>
        <p:spPr>
          <a:xfrm>
            <a:off x="1603778" y="3034614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 Client</a:t>
            </a:r>
            <a:endParaRPr lang="en-US" sz="1420" dirty="0"/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E011FF1D-5EC9-4B05-A2C2-AD327F1EECD5}"/>
              </a:ext>
            </a:extLst>
          </p:cNvPr>
          <p:cNvSpPr/>
          <p:nvPr/>
        </p:nvSpPr>
        <p:spPr>
          <a:xfrm>
            <a:off x="3931920" y="2626315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 forwarded with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origin / consent check</a:t>
            </a:r>
            <a:endParaRPr lang="en-US" sz="1200" dirty="0"/>
          </a:p>
        </p:txBody>
      </p:sp>
      <p:sp>
        <p:nvSpPr>
          <p:cNvPr id="54" name="Shape 21">
            <a:extLst>
              <a:ext uri="{FF2B5EF4-FFF2-40B4-BE49-F238E27FC236}">
                <a16:creationId xmlns:a16="http://schemas.microsoft.com/office/drawing/2014/main" id="{462ECC82-58C1-4636-9022-CE91013FBAD5}"/>
              </a:ext>
            </a:extLst>
          </p:cNvPr>
          <p:cNvSpPr/>
          <p:nvPr/>
        </p:nvSpPr>
        <p:spPr>
          <a:xfrm flipV="1">
            <a:off x="3108960" y="3173365"/>
            <a:ext cx="2887118" cy="0"/>
          </a:xfrm>
          <a:prstGeom prst="line">
            <a:avLst/>
          </a:prstGeom>
          <a:noFill/>
          <a:ln w="17780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B4F9DF83-14E7-4771-97E7-A9BDC869C857}"/>
              </a:ext>
            </a:extLst>
          </p:cNvPr>
          <p:cNvSpPr/>
          <p:nvPr/>
        </p:nvSpPr>
        <p:spPr>
          <a:xfrm>
            <a:off x="6103620" y="3023483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relay / network</a:t>
            </a:r>
            <a:endParaRPr lang="en-US" sz="1420" dirty="0"/>
          </a:p>
        </p:txBody>
      </p:sp>
      <p:sp>
        <p:nvSpPr>
          <p:cNvPr id="57" name="Shape 24">
            <a:extLst>
              <a:ext uri="{FF2B5EF4-FFF2-40B4-BE49-F238E27FC236}">
                <a16:creationId xmlns:a16="http://schemas.microsoft.com/office/drawing/2014/main" id="{2FF71CA4-4963-41D6-BF74-72B0D6080219}"/>
              </a:ext>
            </a:extLst>
          </p:cNvPr>
          <p:cNvSpPr/>
          <p:nvPr/>
        </p:nvSpPr>
        <p:spPr>
          <a:xfrm>
            <a:off x="7206268" y="3162630"/>
            <a:ext cx="932688" cy="0"/>
          </a:xfrm>
          <a:prstGeom prst="line">
            <a:avLst/>
          </a:prstGeom>
          <a:noFill/>
          <a:ln w="17780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58" name="Shape 25">
            <a:extLst>
              <a:ext uri="{FF2B5EF4-FFF2-40B4-BE49-F238E27FC236}">
                <a16:creationId xmlns:a16="http://schemas.microsoft.com/office/drawing/2014/main" id="{AA718298-C8D9-4392-8A22-D305F892A567}"/>
              </a:ext>
            </a:extLst>
          </p:cNvPr>
          <p:cNvSpPr/>
          <p:nvPr/>
        </p:nvSpPr>
        <p:spPr>
          <a:xfrm>
            <a:off x="8218170" y="2937214"/>
            <a:ext cx="1700784" cy="477474"/>
          </a:xfrm>
          <a:prstGeom prst="roundRect">
            <a:avLst>
              <a:gd name="adj" fmla="val 1563"/>
            </a:avLst>
          </a:prstGeom>
          <a:solidFill>
            <a:srgbClr val="FDECEC"/>
          </a:solidFill>
          <a:ln w="13970">
            <a:solidFill>
              <a:srgbClr val="F1B8B2"/>
            </a:solidFill>
            <a:prstDash val="solid"/>
          </a:ln>
        </p:spPr>
      </p:sp>
      <p:sp>
        <p:nvSpPr>
          <p:cNvPr id="59" name="Text 26">
            <a:extLst>
              <a:ext uri="{FF2B5EF4-FFF2-40B4-BE49-F238E27FC236}">
                <a16:creationId xmlns:a16="http://schemas.microsoft.com/office/drawing/2014/main" id="{E7526EB5-BB34-45B9-A71D-DCDB969B9589}"/>
              </a:ext>
            </a:extLst>
          </p:cNvPr>
          <p:cNvSpPr/>
          <p:nvPr/>
        </p:nvSpPr>
        <p:spPr>
          <a:xfrm>
            <a:off x="8327898" y="303680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Endpoint</a:t>
            </a:r>
            <a:endParaRPr lang="en-US" sz="1420" dirty="0"/>
          </a:p>
        </p:txBody>
      </p:sp>
      <p:sp>
        <p:nvSpPr>
          <p:cNvPr id="60" name="Shape 27">
            <a:extLst>
              <a:ext uri="{FF2B5EF4-FFF2-40B4-BE49-F238E27FC236}">
                <a16:creationId xmlns:a16="http://schemas.microsoft.com/office/drawing/2014/main" id="{1F3A6BF6-F974-4060-ABB3-BAB157BFEA9E}"/>
              </a:ext>
            </a:extLst>
          </p:cNvPr>
          <p:cNvSpPr/>
          <p:nvPr/>
        </p:nvSpPr>
        <p:spPr>
          <a:xfrm flipV="1">
            <a:off x="9955033" y="3162630"/>
            <a:ext cx="683812" cy="13518"/>
          </a:xfrm>
          <a:prstGeom prst="line">
            <a:avLst/>
          </a:prstGeom>
          <a:noFill/>
          <a:ln w="17780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61" name="Text 28">
            <a:extLst>
              <a:ext uri="{FF2B5EF4-FFF2-40B4-BE49-F238E27FC236}">
                <a16:creationId xmlns:a16="http://schemas.microsoft.com/office/drawing/2014/main" id="{72709847-100D-4CA6-96C4-BB5CAA7D7868}"/>
              </a:ext>
            </a:extLst>
          </p:cNvPr>
          <p:cNvSpPr/>
          <p:nvPr/>
        </p:nvSpPr>
        <p:spPr>
          <a:xfrm>
            <a:off x="10501651" y="2870039"/>
            <a:ext cx="1700784" cy="549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high-impact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 on a spoofed / unauthorized intent </a:t>
            </a:r>
            <a:endParaRPr lang="en-US" sz="1200" dirty="0"/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16DD887-A961-426C-9049-6A6F086B0A3A}"/>
              </a:ext>
            </a:extLst>
          </p:cNvPr>
          <p:cNvSpPr/>
          <p:nvPr/>
        </p:nvSpPr>
        <p:spPr>
          <a:xfrm>
            <a:off x="640080" y="4858247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built — one admission path:</a:t>
            </a:r>
            <a:endParaRPr lang="en-US" sz="1550" dirty="0"/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1A106DF8-3548-4B82-A26A-E61A66251546}"/>
              </a:ext>
            </a:extLst>
          </p:cNvPr>
          <p:cNvSpPr/>
          <p:nvPr/>
        </p:nvSpPr>
        <p:spPr>
          <a:xfrm>
            <a:off x="640080" y="5213670"/>
            <a:ext cx="3246120" cy="987552"/>
          </a:xfrm>
          <a:prstGeom prst="rect">
            <a:avLst/>
          </a:prstGeom>
          <a:solidFill>
            <a:srgbClr val="EAF1FA"/>
          </a:solidFill>
          <a:ln w="13970">
            <a:solidFill>
              <a:srgbClr val="8CA9CD"/>
            </a:solidFill>
            <a:prstDash val="solid"/>
          </a:ln>
        </p:spPr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19C8177B-8DEA-4C93-9CB9-BAEF887CC1C9}"/>
              </a:ext>
            </a:extLst>
          </p:cNvPr>
          <p:cNvSpPr/>
          <p:nvPr/>
        </p:nvSpPr>
        <p:spPr>
          <a:xfrm>
            <a:off x="777240" y="541483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 request</a:t>
            </a:r>
            <a:endParaRPr lang="en-US" sz="155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07291450-3FD8-411D-BD86-B5ADDC9C3808}"/>
              </a:ext>
            </a:extLst>
          </p:cNvPr>
          <p:cNvSpPr/>
          <p:nvPr/>
        </p:nvSpPr>
        <p:spPr>
          <a:xfrm>
            <a:off x="777240" y="579888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wants · claimed context</a:t>
            </a:r>
            <a:endParaRPr lang="en-US" sz="125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D71667C7-8A92-4291-BB14-7E5639021D33}"/>
              </a:ext>
            </a:extLst>
          </p:cNvPr>
          <p:cNvSpPr/>
          <p:nvPr/>
        </p:nvSpPr>
        <p:spPr>
          <a:xfrm>
            <a:off x="3995928" y="5545241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400" dirty="0"/>
          </a:p>
        </p:txBody>
      </p:sp>
      <p:sp>
        <p:nvSpPr>
          <p:cNvPr id="65" name="Shape 18">
            <a:extLst>
              <a:ext uri="{FF2B5EF4-FFF2-40B4-BE49-F238E27FC236}">
                <a16:creationId xmlns:a16="http://schemas.microsoft.com/office/drawing/2014/main" id="{2EAC1FD5-7176-4B5F-8EBD-3EC99C943115}"/>
              </a:ext>
            </a:extLst>
          </p:cNvPr>
          <p:cNvSpPr/>
          <p:nvPr/>
        </p:nvSpPr>
        <p:spPr>
          <a:xfrm>
            <a:off x="4590288" y="5213670"/>
            <a:ext cx="3246120" cy="987552"/>
          </a:xfrm>
          <a:prstGeom prst="rect">
            <a:avLst/>
          </a:prstGeom>
          <a:solidFill>
            <a:srgbClr val="EAF1FA"/>
          </a:solidFill>
          <a:ln w="13970">
            <a:solidFill>
              <a:srgbClr val="8CA9CD"/>
            </a:solidFill>
            <a:prstDash val="solid"/>
          </a:ln>
        </p:spPr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55572A8E-E65A-43C6-BC88-4FAADF0A9F81}"/>
              </a:ext>
            </a:extLst>
          </p:cNvPr>
          <p:cNvSpPr/>
          <p:nvPr/>
        </p:nvSpPr>
        <p:spPr>
          <a:xfrm>
            <a:off x="4727448" y="541483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Admission Point</a:t>
            </a:r>
            <a:endParaRPr lang="en-US" sz="155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7BA606B9-196D-4EA9-8CD4-413CCB96C6BC}"/>
              </a:ext>
            </a:extLst>
          </p:cNvPr>
          <p:cNvSpPr/>
          <p:nvPr/>
        </p:nvSpPr>
        <p:spPr>
          <a:xfrm>
            <a:off x="4727448" y="579888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origin · consent · policy</a:t>
            </a:r>
            <a:endParaRPr lang="en-US" sz="125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861851D7-C302-4453-BFD3-96A6491A6197}"/>
              </a:ext>
            </a:extLst>
          </p:cNvPr>
          <p:cNvSpPr/>
          <p:nvPr/>
        </p:nvSpPr>
        <p:spPr>
          <a:xfrm>
            <a:off x="7946136" y="5545241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400" dirty="0"/>
          </a:p>
        </p:txBody>
      </p:sp>
      <p:sp>
        <p:nvSpPr>
          <p:cNvPr id="69" name="Shape 22">
            <a:extLst>
              <a:ext uri="{FF2B5EF4-FFF2-40B4-BE49-F238E27FC236}">
                <a16:creationId xmlns:a16="http://schemas.microsoft.com/office/drawing/2014/main" id="{92139E20-C90D-4914-81B6-BBF14DD41CC8}"/>
              </a:ext>
            </a:extLst>
          </p:cNvPr>
          <p:cNvSpPr/>
          <p:nvPr/>
        </p:nvSpPr>
        <p:spPr>
          <a:xfrm>
            <a:off x="8540496" y="5213670"/>
            <a:ext cx="2743200" cy="987552"/>
          </a:xfrm>
          <a:prstGeom prst="rect">
            <a:avLst/>
          </a:prstGeom>
          <a:solidFill>
            <a:srgbClr val="EAF1FA"/>
          </a:solidFill>
          <a:ln w="13970">
            <a:solidFill>
              <a:srgbClr val="8CA9CD"/>
            </a:solidFill>
            <a:prstDash val="solid"/>
          </a:ln>
        </p:spPr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0177CF0E-0218-4D3D-B2D2-91D2B4C27B1F}"/>
              </a:ext>
            </a:extLst>
          </p:cNvPr>
          <p:cNvSpPr/>
          <p:nvPr/>
        </p:nvSpPr>
        <p:spPr>
          <a:xfrm>
            <a:off x="8677656" y="541483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Executor</a:t>
            </a:r>
            <a:endParaRPr lang="en-US" sz="1550" dirty="0"/>
          </a:p>
        </p:txBody>
      </p:sp>
      <p:sp>
        <p:nvSpPr>
          <p:cNvPr id="71" name="Text 24">
            <a:extLst>
              <a:ext uri="{FF2B5EF4-FFF2-40B4-BE49-F238E27FC236}">
                <a16:creationId xmlns:a16="http://schemas.microsoft.com/office/drawing/2014/main" id="{3118F880-D225-4ED8-945C-FDC52F2F2F48}"/>
              </a:ext>
            </a:extLst>
          </p:cNvPr>
          <p:cNvSpPr/>
          <p:nvPr/>
        </p:nvSpPr>
        <p:spPr>
          <a:xfrm>
            <a:off x="8677656" y="579888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 only a valid pass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59436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5240">
            <a:solidFill>
              <a:srgbClr val="CFD8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731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3D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92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IETF126 - Hackathon - 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0" y="64922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6419088"/>
            <a:ext cx="11018520" cy="0"/>
          </a:xfrm>
          <a:prstGeom prst="line">
            <a:avLst/>
          </a:prstGeom>
          <a:noFill/>
          <a:ln w="8890">
            <a:solidFill>
              <a:srgbClr val="E0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74980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C2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solution: admit once, verify again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" y="13533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origin and consent at the point where they are verifiable, then carry a signed assertion to the execution endpoint.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011680" y="3063240"/>
            <a:ext cx="987552" cy="0"/>
          </a:xfrm>
          <a:prstGeom prst="line">
            <a:avLst/>
          </a:prstGeom>
          <a:noFill/>
          <a:ln w="17780">
            <a:solidFill>
              <a:srgbClr val="1C2A39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989320" y="3063240"/>
            <a:ext cx="1069848" cy="0"/>
          </a:xfrm>
          <a:prstGeom prst="line">
            <a:avLst/>
          </a:prstGeom>
          <a:noFill/>
          <a:ln w="17780">
            <a:solidFill>
              <a:srgbClr val="1C2A3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430768" y="3063240"/>
            <a:ext cx="850392" cy="0"/>
          </a:xfrm>
          <a:prstGeom prst="line">
            <a:avLst/>
          </a:prstGeom>
          <a:noFill/>
          <a:ln w="17780">
            <a:solidFill>
              <a:srgbClr val="1C2A39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7240" y="2496312"/>
            <a:ext cx="1481328" cy="1143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60904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 Originator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923544" y="299923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· app · agent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2999232" y="2194560"/>
            <a:ext cx="2788920" cy="1737360"/>
          </a:xfrm>
          <a:prstGeom prst="roundRect">
            <a:avLst>
              <a:gd name="adj" fmla="val 1053"/>
            </a:avLst>
          </a:prstGeom>
          <a:solidFill>
            <a:srgbClr val="EAF1FA"/>
          </a:solidFill>
          <a:ln w="13970">
            <a:solidFill>
              <a:srgbClr val="8CA9C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36392" y="235915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Admission Point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3145536" y="2697480"/>
            <a:ext cx="2496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3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authenticate origin</a:t>
            </a:r>
            <a:endParaRPr lang="en-US" sz="1230" dirty="0"/>
          </a:p>
          <a:p>
            <a:pPr marL="0" indent="0" algn="ctr">
              <a:buNone/>
            </a:pPr>
            <a:r>
              <a:rPr lang="en-US" sz="123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evaluate policy</a:t>
            </a:r>
            <a:endParaRPr lang="en-US" sz="1230" dirty="0"/>
          </a:p>
          <a:p>
            <a:pPr marL="0" indent="0" algn="ctr">
              <a:buNone/>
            </a:pPr>
            <a:r>
              <a:rPr lang="en-US" sz="123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obtain consent if required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7059168" y="2432304"/>
            <a:ext cx="1417320" cy="1261872"/>
          </a:xfrm>
          <a:prstGeom prst="roundRect">
            <a:avLst>
              <a:gd name="adj" fmla="val 1449"/>
            </a:avLst>
          </a:prstGeom>
          <a:solidFill>
            <a:srgbClr val="E7F5F2"/>
          </a:solidFill>
          <a:ln w="13970">
            <a:solidFill>
              <a:srgbClr val="A9D9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96328" y="259689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087A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IAA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7205472" y="2935224"/>
            <a:ext cx="11247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JWT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 to intent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9272016" y="2194560"/>
            <a:ext cx="2176272" cy="173736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09176" y="2359152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Endpoint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9418320" y="2697480"/>
            <a:ext cx="18836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3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signature</a:t>
            </a:r>
            <a:endParaRPr lang="en-US" sz="1230" dirty="0"/>
          </a:p>
          <a:p>
            <a:pPr marL="0" indent="0" algn="ctr">
              <a:buNone/>
            </a:pPr>
            <a:r>
              <a:rPr lang="en-US" sz="123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audience &amp; expiry</a:t>
            </a:r>
            <a:endParaRPr lang="en-US" sz="1230" dirty="0"/>
          </a:p>
          <a:p>
            <a:pPr marL="0" indent="0" algn="ctr">
              <a:buNone/>
            </a:pPr>
            <a:r>
              <a:rPr lang="en-US" sz="123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 replay</a:t>
            </a:r>
            <a:endParaRPr lang="en-US" sz="1230" dirty="0"/>
          </a:p>
          <a:p>
            <a:pPr marL="0" indent="0" algn="ctr">
              <a:buNone/>
            </a:pPr>
            <a:r>
              <a:rPr lang="en-US" sz="123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 or refuse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960120" y="4617720"/>
            <a:ext cx="2926080" cy="804672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52144" y="4864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trust self-declared source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617720" y="4617720"/>
            <a:ext cx="2926080" cy="804672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9744" y="4864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Intermediaries can forward, not forge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275320" y="4617720"/>
            <a:ext cx="2926080" cy="804672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67344" y="4864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 remains the final gate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24128" y="5705856"/>
            <a:ext cx="10131552" cy="566928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5861304"/>
            <a:ext cx="9985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IAA is self-protecting: signed, bound to the intent, and re-verified before action.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59436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5240">
            <a:solidFill>
              <a:srgbClr val="CFD8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731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3D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92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IETF126 - Hackathon - 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0" y="64922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6419088"/>
            <a:ext cx="11018520" cy="0"/>
          </a:xfrm>
          <a:prstGeom prst="line">
            <a:avLst/>
          </a:prstGeom>
          <a:noFill/>
          <a:ln w="8890">
            <a:solidFill>
              <a:srgbClr val="E0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74980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C2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Implementation: submit an intent with live context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" y="13533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scenarios stand in for different originators. The demo does not rely only on the selected story: it also shows live host evidence.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" y="1938528"/>
            <a:ext cx="7708392" cy="4078224"/>
          </a:xfrm>
          <a:prstGeom prst="rect">
            <a:avLst/>
          </a:prstGeom>
          <a:solidFill>
            <a:srgbClr val="F5F6F8"/>
          </a:solidFill>
          <a:ln w="12700">
            <a:solidFill>
              <a:srgbClr val="CFD8E3"/>
            </a:solidFill>
            <a:prstDash val="solid"/>
          </a:ln>
        </p:spPr>
      </p:sp>
      <p:pic>
        <p:nvPicPr>
          <p:cNvPr id="11" name="Image 0" descr="/mnt/data/intent_assets/slide3_pic1.png"/>
          <p:cNvPicPr>
            <a:picLocks noChangeAspect="1"/>
          </p:cNvPicPr>
          <p:nvPr/>
        </p:nvPicPr>
        <p:blipFill>
          <a:blip r:embed="rId3"/>
          <a:srcRect l="5000" t="5000" r="7872" b="30000"/>
          <a:stretch/>
        </p:blipFill>
        <p:spPr>
          <a:xfrm>
            <a:off x="658368" y="1975104"/>
            <a:ext cx="7635240" cy="400507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577072" y="1975104"/>
            <a:ext cx="2834640" cy="4005072"/>
          </a:xfrm>
          <a:prstGeom prst="roundRect">
            <a:avLst>
              <a:gd name="adj" fmla="val 645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96528" y="228600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notice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8887968" y="2971800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Scenario selects the request context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Consent is explicit or absent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Host evidence is shown before admission</a:t>
            </a:r>
            <a:endParaRPr lang="en-US" sz="1360" dirty="0"/>
          </a:p>
        </p:txBody>
      </p:sp>
      <p:sp>
        <p:nvSpPr>
          <p:cNvPr id="15" name="Text 12"/>
          <p:cNvSpPr/>
          <p:nvPr/>
        </p:nvSpPr>
        <p:spPr>
          <a:xfrm>
            <a:off x="822960" y="6053328"/>
            <a:ext cx="1049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80" i="1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 and consent are checked before the request reaches execution.</a:t>
            </a:r>
            <a:endParaRPr lang="en-US" sz="14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59436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5240">
            <a:solidFill>
              <a:srgbClr val="CFD8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731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3D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92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IETF126 - Hackathon - 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0" y="64922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6419088"/>
            <a:ext cx="11018520" cy="0"/>
          </a:xfrm>
          <a:prstGeom prst="line">
            <a:avLst/>
          </a:prstGeom>
          <a:noFill/>
          <a:ln w="8890">
            <a:solidFill>
              <a:srgbClr val="E0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74980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C2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Implementation: decide, seal, and re-check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" y="13533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demo runs the admission checks, signs the result, and then verifies the assertion at the executor.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1865376"/>
            <a:ext cx="5468112" cy="4206240"/>
          </a:xfrm>
          <a:prstGeom prst="roundRect">
            <a:avLst>
              <a:gd name="adj" fmla="val 435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0574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Admission Point: policy and verdict</a:t>
            </a:r>
            <a:endParaRPr lang="en-US" sz="1520" dirty="0"/>
          </a:p>
        </p:txBody>
      </p:sp>
      <p:sp>
        <p:nvSpPr>
          <p:cNvPr id="12" name="Shape 10"/>
          <p:cNvSpPr/>
          <p:nvPr/>
        </p:nvSpPr>
        <p:spPr>
          <a:xfrm>
            <a:off x="804672" y="2432304"/>
            <a:ext cx="5148072" cy="3346704"/>
          </a:xfrm>
          <a:prstGeom prst="rect">
            <a:avLst/>
          </a:prstGeom>
          <a:solidFill>
            <a:srgbClr val="F5F6F8"/>
          </a:solidFill>
          <a:ln w="12700">
            <a:solidFill>
              <a:srgbClr val="CFD8E3"/>
            </a:solidFill>
            <a:prstDash val="solid"/>
          </a:ln>
        </p:spPr>
      </p:sp>
      <p:pic>
        <p:nvPicPr>
          <p:cNvPr id="13" name="Image 0" descr="/mnt/data/intent_assets/slide4_pic1.png"/>
          <p:cNvPicPr>
            <a:picLocks noChangeAspect="1"/>
          </p:cNvPicPr>
          <p:nvPr/>
        </p:nvPicPr>
        <p:blipFill>
          <a:blip r:embed="rId3"/>
          <a:srcRect l="18000" r="-11743" b="14000"/>
          <a:stretch/>
        </p:blipFill>
        <p:spPr>
          <a:xfrm>
            <a:off x="841248" y="2468880"/>
            <a:ext cx="5074920" cy="327355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291072" y="1865376"/>
            <a:ext cx="5468112" cy="4206240"/>
          </a:xfrm>
          <a:prstGeom prst="roundRect">
            <a:avLst>
              <a:gd name="adj" fmla="val 435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10528" y="20574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Endpoint: run or refuse</a:t>
            </a:r>
            <a:endParaRPr lang="en-US" sz="1520" dirty="0"/>
          </a:p>
        </p:txBody>
      </p:sp>
      <p:sp>
        <p:nvSpPr>
          <p:cNvPr id="16" name="Shape 13"/>
          <p:cNvSpPr/>
          <p:nvPr/>
        </p:nvSpPr>
        <p:spPr>
          <a:xfrm>
            <a:off x="6455664" y="2432304"/>
            <a:ext cx="5148072" cy="3346704"/>
          </a:xfrm>
          <a:prstGeom prst="rect">
            <a:avLst/>
          </a:prstGeom>
          <a:solidFill>
            <a:srgbClr val="F5F6F8"/>
          </a:solidFill>
          <a:ln w="12700">
            <a:solidFill>
              <a:srgbClr val="CFD8E3"/>
            </a:solidFill>
            <a:prstDash val="solid"/>
          </a:ln>
        </p:spPr>
      </p:sp>
      <p:pic>
        <p:nvPicPr>
          <p:cNvPr id="17" name="Image 1" descr="/mnt/data/intent_assets/slide5_pic1.png"/>
          <p:cNvPicPr>
            <a:picLocks noChangeAspect="1"/>
          </p:cNvPicPr>
          <p:nvPr/>
        </p:nvPicPr>
        <p:blipFill>
          <a:blip r:embed="rId4"/>
          <a:srcRect l="18000" t="15000" r="7877" b="17000"/>
          <a:stretch/>
        </p:blipFill>
        <p:spPr>
          <a:xfrm>
            <a:off x="6492240" y="2468880"/>
            <a:ext cx="5074920" cy="327355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" y="6126480"/>
            <a:ext cx="10497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i="1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 is rejected. Editing the verdict breaks the signature. A background high-risk request is denied by policy.</a:t>
            </a:r>
            <a:endParaRPr lang="en-US" sz="14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59436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15240">
            <a:solidFill>
              <a:srgbClr val="CFD8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12680" y="731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3D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92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IETF126 - Hackathon - 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0" y="64922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B87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6419088"/>
            <a:ext cx="11018520" cy="0"/>
          </a:xfrm>
          <a:prstGeom prst="line">
            <a:avLst/>
          </a:prstGeom>
          <a:noFill/>
          <a:ln w="8890">
            <a:solidFill>
              <a:srgbClr val="E0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74980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1C2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85800" y="1572768"/>
            <a:ext cx="5349240" cy="3246120"/>
          </a:xfrm>
          <a:prstGeom prst="roundRect">
            <a:avLst>
              <a:gd name="adj" fmla="val 563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92024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helps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60120" y="2578608"/>
            <a:ext cx="4800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7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Origin and consent are captured where those signals are still verifiable.</a:t>
            </a:r>
            <a:endParaRPr lang="en-US" sz="1470" dirty="0"/>
          </a:p>
          <a:p>
            <a:pPr marL="0" indent="0">
              <a:buNone/>
            </a:pPr>
            <a:r>
              <a:rPr lang="en-US" sz="147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assertion is signed, bound to the intent, and protected against replay or repurposing.</a:t>
            </a:r>
            <a:endParaRPr lang="en-US" sz="1470" dirty="0"/>
          </a:p>
          <a:p>
            <a:pPr marL="0" indent="0">
              <a:buNone/>
            </a:pPr>
            <a:r>
              <a:rPr lang="en-US" sz="147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executor can independently verify the admission decision before any high-impact action.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6263640" y="1572768"/>
            <a:ext cx="5349240" cy="3246120"/>
          </a:xfrm>
          <a:prstGeom prst="roundRect">
            <a:avLst>
              <a:gd name="adj" fmla="val 563"/>
            </a:avLst>
          </a:prstGeom>
          <a:solidFill>
            <a:srgbClr val="FFFFFF"/>
          </a:solidFill>
          <a:ln w="13970">
            <a:solidFill>
              <a:srgbClr val="CFD8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92024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1C2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Continue the conversation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528816" y="2542032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Feedback: outcomes, host signals, claim names, proof-of-possession, and what belongs in the assertion.</a:t>
            </a:r>
            <a:endParaRPr lang="en-US" sz="1400" dirty="0"/>
          </a:p>
        </p:txBody>
      </p:sp>
      <p:sp>
        <p:nvSpPr>
          <p:cNvPr id="15" name="Text 13">
            <a:hlinkClick r:id="rId3"/>
          </p:cNvPr>
          <p:cNvSpPr/>
          <p:nvPr/>
        </p:nvSpPr>
        <p:spPr>
          <a:xfrm>
            <a:off x="6528816" y="3047737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0563C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draft-jiang-oauth-intent-admission</a:t>
            </a:r>
            <a:endParaRPr lang="en-US" sz="1400" dirty="0"/>
          </a:p>
        </p:txBody>
      </p:sp>
      <p:sp>
        <p:nvSpPr>
          <p:cNvPr id="16" name="Text 14">
            <a:hlinkClick r:id="rId4"/>
          </p:cNvPr>
          <p:cNvSpPr/>
          <p:nvPr/>
        </p:nvSpPr>
        <p:spPr>
          <a:xfrm>
            <a:off x="6528816" y="3376921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0563C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draft-jiang-intent-security</a:t>
            </a:r>
            <a:endParaRPr lang="en-US" sz="1400" dirty="0"/>
          </a:p>
        </p:txBody>
      </p:sp>
      <p:sp>
        <p:nvSpPr>
          <p:cNvPr id="17" name="Text 15">
            <a:hlinkClick r:id="rId5"/>
          </p:cNvPr>
          <p:cNvSpPr/>
          <p:nvPr/>
        </p:nvSpPr>
        <p:spPr>
          <a:xfrm>
            <a:off x="6528816" y="3706105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0563C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oauth-intent-admission-draft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28816" y="4035289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94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demo binaries:</a:t>
            </a:r>
            <a:endParaRPr lang="en-US" sz="1300" dirty="0"/>
          </a:p>
        </p:txBody>
      </p:sp>
      <p:sp>
        <p:nvSpPr>
          <p:cNvPr id="19" name="Text 14">
            <a:hlinkClick r:id="rId6"/>
            <a:extLst>
              <a:ext uri="{FF2B5EF4-FFF2-40B4-BE49-F238E27FC236}">
                <a16:creationId xmlns:a16="http://schemas.microsoft.com/office/drawing/2014/main" id="{83AD246D-249D-42E9-950F-918D93FE281F}"/>
              </a:ext>
            </a:extLst>
          </p:cNvPr>
          <p:cNvSpPr/>
          <p:nvPr/>
        </p:nvSpPr>
        <p:spPr>
          <a:xfrm>
            <a:off x="8099994" y="3968496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70" u="sng" dirty="0">
                <a:solidFill>
                  <a:srgbClr val="0563C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Windows: intent-admission-demo-windows.exe</a:t>
            </a:r>
            <a:endParaRPr lang="en-US" sz="1270" dirty="0"/>
          </a:p>
        </p:txBody>
      </p:sp>
      <p:sp>
        <p:nvSpPr>
          <p:cNvPr id="20" name="Text 15">
            <a:hlinkClick r:id="rId7"/>
            <a:extLst>
              <a:ext uri="{FF2B5EF4-FFF2-40B4-BE49-F238E27FC236}">
                <a16:creationId xmlns:a16="http://schemas.microsoft.com/office/drawing/2014/main" id="{C5676FBF-0898-4BAA-A2E0-9CF2FB08B290}"/>
              </a:ext>
            </a:extLst>
          </p:cNvPr>
          <p:cNvSpPr/>
          <p:nvPr/>
        </p:nvSpPr>
        <p:spPr>
          <a:xfrm>
            <a:off x="8099994" y="426110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70" u="sng" dirty="0">
                <a:solidFill>
                  <a:srgbClr val="0563C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macOS: intent-admission-demo-macos</a:t>
            </a:r>
            <a:endParaRPr lang="en-US" sz="1270" dirty="0"/>
          </a:p>
        </p:txBody>
      </p:sp>
      <p:sp>
        <p:nvSpPr>
          <p:cNvPr id="21" name="Text 16">
            <a:hlinkClick r:id="rId8"/>
            <a:extLst>
              <a:ext uri="{FF2B5EF4-FFF2-40B4-BE49-F238E27FC236}">
                <a16:creationId xmlns:a16="http://schemas.microsoft.com/office/drawing/2014/main" id="{B642AB87-6F01-4866-ADB0-BA96471D8EA6}"/>
              </a:ext>
            </a:extLst>
          </p:cNvPr>
          <p:cNvSpPr/>
          <p:nvPr/>
        </p:nvSpPr>
        <p:spPr>
          <a:xfrm>
            <a:off x="8099994" y="455371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70" u="sng" dirty="0">
                <a:solidFill>
                  <a:srgbClr val="0563C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Linux: intent-admission-demo-linux</a:t>
            </a:r>
            <a:endParaRPr lang="en-US" sz="12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690</Words>
  <Application>Microsoft Office PowerPoint</Application>
  <PresentationFormat>Widescreen</PresentationFormat>
  <Paragraphs>108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 Admission: verifying origin and consent before execution</dc:title>
  <dc:subject>IETF126 Hackathon - Intent Admission</dc:subject>
  <dc:creator>OpenAI</dc:creator>
  <cp:lastModifiedBy>tuyaowei</cp:lastModifiedBy>
  <cp:revision>5</cp:revision>
  <dcterms:created xsi:type="dcterms:W3CDTF">2026-07-02T07:27:52Z</dcterms:created>
  <dcterms:modified xsi:type="dcterms:W3CDTF">2026-07-02T08:23:52Z</dcterms:modified>
</cp:coreProperties>
</file>